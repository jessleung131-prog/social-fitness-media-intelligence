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Fitness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App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Intelligence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32186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 pipeline · Full-funnel measurement · Downstream advanced analytics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651760" cy="347472"/>
          </a:xfrm>
          <a:prstGeom prst="rect">
            <a:avLst/>
          </a:prstGeom>
          <a:solidFill>
            <a:srgbClr val="FF2D55">
              <a:alpha val="12000"/>
            </a:srgbClr>
          </a:solidFill>
          <a:ln w="10160">
            <a:solidFill>
              <a:srgbClr val="FF2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914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463040"/>
            <a:ext cx="2651760" cy="347472"/>
          </a:xfrm>
          <a:prstGeom prst="rect">
            <a:avLst/>
          </a:prstGeom>
          <a:solidFill>
            <a:srgbClr val="40A0FF">
              <a:alpha val="12000"/>
            </a:srgbClr>
          </a:solidFill>
          <a:ln w="10160">
            <a:solidFill>
              <a:srgbClr val="40A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Instagram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2651760" cy="347472"/>
          </a:xfrm>
          <a:prstGeom prst="rect">
            <a:avLst/>
          </a:prstGeom>
          <a:solidFill>
            <a:srgbClr val="FF6A35">
              <a:alpha val="12000"/>
            </a:srgbClr>
          </a:solidFill>
          <a:ln w="10160">
            <a:solidFill>
              <a:srgbClr val="FF6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20116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Ads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560320"/>
            <a:ext cx="2651760" cy="347472"/>
          </a:xfrm>
          <a:prstGeom prst="rect">
            <a:avLst/>
          </a:prstGeom>
          <a:solidFill>
            <a:srgbClr val="FC4C02">
              <a:alpha val="12000"/>
            </a:srgbClr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560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AppsFlyer MMP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108960"/>
            <a:ext cx="2651760" cy="347472"/>
          </a:xfrm>
          <a:prstGeom prst="rect">
            <a:avLst/>
          </a:prstGeom>
          <a:solidFill>
            <a:srgbClr val="4ADE80">
              <a:alpha val="12000"/>
            </a:srgbClr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1089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+ dbt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3200400" cy="0"/>
          </a:xfrm>
          <a:prstGeom prst="line">
            <a:avLst/>
          </a:prstGeom>
          <a:noFill/>
          <a:ln w="6350">
            <a:solidFill>
              <a:srgbClr val="3A3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Jess L.  ·  Marketing Data Scientist  ·  github.com/jessleung131-prog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data lives in silos.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its real impact is broken.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114800" cy="117043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64008" cy="1170432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4767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2167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Meta, Reddit all use different field names, date formats, and attribution windows. You can't SUM installs across platforms without normalizing first.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4114800" cy="117043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200400"/>
            <a:ext cx="64008" cy="1170432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735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3493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chaos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49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uses 30-day click windows vs TikTok/Meta's 7-day. iOS ATT-denied users (19%) have no user-level data. Platform-reported installs double-count.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874520"/>
            <a:ext cx="4114800" cy="117043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874520"/>
            <a:ext cx="64008" cy="1170432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94767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47488" y="2167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is invisible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7488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content drives real installs via UTM links — but there's no pipeline connecting Instagram Reels to app subscription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4114800" cy="117043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200400"/>
            <a:ext cx="64008" cy="1170432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32735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47488" y="3493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funnel depth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3749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track impressions and installs. Almost no one tracks install → register → activate → paywall → trial → subscribe at the channel level.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channel.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85216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" cy="58521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paid + organic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7373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TikTok, Meta, Reddit Ads, and organic content into one Common Data Model in BigQuery — same field names, same types, same logic.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764792"/>
            <a:ext cx="0" cy="438912"/>
          </a:xfrm>
          <a:prstGeom prst="line">
            <a:avLst/>
          </a:prstGeom>
          <a:noFill/>
          <a:ln w="6350">
            <a:solidFill>
              <a:srgbClr val="3A3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50008"/>
            <a:ext cx="8229600" cy="585216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50008"/>
            <a:ext cx="54864" cy="585216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full funnel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3957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ad impressions to app installs (via AppsFlyer MMP) to subscription revenue — with channel-level attribution at every step.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423160"/>
            <a:ext cx="0" cy="438912"/>
          </a:xfrm>
          <a:prstGeom prst="line">
            <a:avLst/>
          </a:prstGeom>
          <a:noFill/>
          <a:ln w="6350">
            <a:solidFill>
              <a:srgbClr val="3A3A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08376"/>
            <a:ext cx="8229600" cy="585216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08376"/>
            <a:ext cx="54864" cy="5852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540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updates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0540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+ Cloud Functions runs all three ETL pipelines at 04:00 UTC daily, writes to GCS, loads to BigQuery, and runs dbt models automatically.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081528"/>
            <a:ext cx="0" cy="438912"/>
          </a:xfrm>
          <a:prstGeom prst="line">
            <a:avLst/>
          </a:prstGeom>
          <a:noFill/>
          <a:ln w="6350">
            <a:solidFill>
              <a:srgbClr val="3A3A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66744"/>
            <a:ext cx="8229600" cy="585216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66744"/>
            <a:ext cx="54864" cy="585216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124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advanced measurement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71246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data foundation needed for incrementality testing, Media Mix Modeling (MMM), and LTV/CAC optimization.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739896"/>
            <a:ext cx="0" cy="438912"/>
          </a:xfrm>
          <a:prstGeom prst="line">
            <a:avLst/>
          </a:prstGeom>
          <a:noFill/>
          <a:ln w="6350">
            <a:solidFill>
              <a:srgbClr val="3A3A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25112"/>
            <a:ext cx="8229600" cy="585216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25112"/>
            <a:ext cx="54864" cy="585216"/>
          </a:xfrm>
          <a:prstGeom prst="rect">
            <a:avLst/>
          </a:prstGeom>
          <a:solidFill>
            <a:srgbClr val="9B9BA0"/>
          </a:solidFill>
          <a:ln w="12700">
            <a:solidFill>
              <a:srgbClr val="9B9B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3708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Team-owned, scalable structure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43708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repo design where Growth, Content, Product, and Finance teams each own their schema — with shared CDM and CI/CD enforcing quality.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4398264"/>
            <a:ext cx="0" cy="438912"/>
          </a:xfrm>
          <a:prstGeom prst="line">
            <a:avLst/>
          </a:prstGeom>
          <a:noFill/>
          <a:ln w="6350">
            <a:solidFill>
              <a:srgbClr val="3A3A4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cloud-native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APIs → GCS raw landing → Python CDM transform → BigQuery → dbt models → Dashboard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316736" cy="329184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316736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482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API v1.3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2860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API v19.0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5237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API v3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AppsFlyer v5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999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APIs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92224" y="265176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20240" y="1463040"/>
            <a:ext cx="1316736" cy="329184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20240" y="1463040"/>
            <a:ext cx="1316736" cy="36576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29968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29968" y="20482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raw bucket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29968" y="22860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Date-partitioned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29968" y="25237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CSV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29968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lifecycle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29968" y="2999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55264" y="265176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1463040"/>
            <a:ext cx="1316736" cy="329184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1463040"/>
            <a:ext cx="1316736" cy="36576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93008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93008" y="20482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normalize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93008" y="22860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enforce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93008" y="25237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 validate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93008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quality checks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93008" y="2999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output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18304" y="265176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1463040"/>
            <a:ext cx="1316736" cy="329184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1463040"/>
            <a:ext cx="1316736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56048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56048" y="20482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tables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56048" y="22860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56048" y="25237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+ INSERT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56048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Date-partitioned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56048" y="2999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schemas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81344" y="265176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09360" y="1463040"/>
            <a:ext cx="1316736" cy="329184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09360" y="1463040"/>
            <a:ext cx="1316736" cy="3657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19088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19088" y="20482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staging views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19088" y="22860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tables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19088" y="25237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19088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 tests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19088" y="2999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docs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644384" y="265176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772400" y="1463040"/>
            <a:ext cx="1316736" cy="329184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772400" y="1463040"/>
            <a:ext cx="1316736" cy="36576"/>
          </a:xfrm>
          <a:prstGeom prst="rect">
            <a:avLst/>
          </a:prstGeom>
          <a:solidFill>
            <a:srgbClr val="9B9BA0"/>
          </a:solidFill>
          <a:ln w="12700">
            <a:solidFill>
              <a:srgbClr val="9B9B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82128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882128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882128" y="20482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882128" y="22860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882128" y="25237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882128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882128" y="2999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Export-ready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→ Pub/Sub → Cloud Function Gen2 · Triggered daily 04:00 UTC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sources. One data model.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743200" cy="36576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371600"/>
            <a:ext cx="530352" cy="201168"/>
          </a:xfrm>
          <a:prstGeom prst="rect">
            <a:avLst/>
          </a:prstGeom>
          <a:solidFill>
            <a:srgbClr val="FF2D55">
              <a:alpha val="18000"/>
            </a:srgbClr>
          </a:solidFill>
          <a:ln w="635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37160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216" y="1353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Ads API v1.3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" y="162763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3,276 rows (6 months)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182880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Campaign × AdGroup × Ad × 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" y="202996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30-day API window chunks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" y="261518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adgroup_id → renamed to ad_group_id in CDM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280160"/>
            <a:ext cx="274320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280160"/>
            <a:ext cx="2743200" cy="36576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371600"/>
            <a:ext cx="530352" cy="201168"/>
          </a:xfrm>
          <a:prstGeom prst="rect">
            <a:avLst/>
          </a:prstGeom>
          <a:solidFill>
            <a:srgbClr val="40A0FF">
              <a:alpha val="18000"/>
            </a:srgbClr>
          </a:solidFill>
          <a:ln w="6350">
            <a:solidFill>
              <a:srgbClr val="40A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37160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11296" y="1353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Marketing API v19.0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11296" y="162763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3,276 rows (6 months)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11296" y="182880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Async job pattern (POST → poll → GET)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11296" y="202996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Breakdown: country × publisher × position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11296" y="261518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adset_id → ad_group_id · post_reactions → likes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09360" y="1280160"/>
            <a:ext cx="274320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280160"/>
            <a:ext cx="2743200" cy="36576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1371600"/>
            <a:ext cx="530352" cy="201168"/>
          </a:xfrm>
          <a:prstGeom prst="rect">
            <a:avLst/>
          </a:prstGeom>
          <a:solidFill>
            <a:srgbClr val="FF6A2F">
              <a:alpha val="18000"/>
            </a:srgbClr>
          </a:solidFill>
          <a:ln w="6350">
            <a:solidFill>
              <a:srgbClr val="FF6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137160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37376" y="1353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Ads API v3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37376" y="162763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1,456 rows (6 months)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37376" y="182880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Per-campaign loop required (no account-wide endpoint)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37376" y="202996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spend_usd (explicit currency suffix)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37376" y="261518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30d window vs 7d TikTok/Meta — never compare installs directly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05840" y="3063240"/>
            <a:ext cx="329184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5840" y="3063240"/>
            <a:ext cx="3291840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3154680"/>
            <a:ext cx="530352" cy="201168"/>
          </a:xfrm>
          <a:prstGeom prst="rect">
            <a:avLst/>
          </a:prstGeom>
          <a:solidFill>
            <a:srgbClr val="FC4C02">
              <a:alpha val="18000"/>
            </a:srgbClr>
          </a:solidFill>
          <a:ln w="6350">
            <a:solidFill>
              <a:srgbClr val="FC4C0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315468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33856" y="3136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AppsFlyer Pull API v5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3856" y="3410712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57,999 install rows · 864K event rows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" y="3611880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Last-touch attribution across all sources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" y="3813048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Funnel flags: registered, first_activity, subscribed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" y="4398264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MMP is the single source of truth for install counts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80560" y="3063240"/>
            <a:ext cx="329184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80560" y="3063240"/>
            <a:ext cx="3291840" cy="3657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3154680"/>
            <a:ext cx="530352" cy="201168"/>
          </a:xfrm>
          <a:prstGeom prst="rect">
            <a:avLst/>
          </a:prstGeom>
          <a:solidFill>
            <a:srgbClr val="C084FC">
              <a:alpha val="18000"/>
            </a:srgbClr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315468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08576" y="3136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Content APIs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08576" y="3410712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207 posts (Instagram + TikTok + Reddit)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08576" y="3611880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IG watch time in milliseconds → converted to seconds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08576" y="3813048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TikTok: play_count · fans_delta · collect_count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08576" y="4398264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spend, no campaign, no direct attribution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DEEP DIVE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differences absorbed at transform 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SQL never sees platform-specific field names. All differences normalized in the transformer layer.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645920" cy="29260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371600"/>
            <a:ext cx="2011680" cy="29260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raw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371600"/>
            <a:ext cx="2011680" cy="29260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raw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011680" cy="29260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raw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1463040" cy="292608"/>
          </a:xfrm>
          <a:prstGeom prst="rect">
            <a:avLst/>
          </a:prstGeom>
          <a:solidFill>
            <a:srgbClr val="0A200A"/>
          </a:solidFill>
          <a:ln w="6350">
            <a:solidFill>
              <a:srgbClr val="3A3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371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field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664208"/>
            <a:ext cx="164592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6642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1664208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stat_time_day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1664208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date_start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664208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(ISO UTC→strip)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38160" y="1664208"/>
            <a:ext cx="146304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16642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(DATE)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011680"/>
            <a:ext cx="164592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011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2011680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2011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adgroup_id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2011680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7952" y="2011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adset_id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2011680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2011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ad_group_id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38160" y="2011680"/>
            <a:ext cx="146304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11312" y="2011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ad_group_id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2359152"/>
            <a:ext cx="164592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23591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03120" y="2359152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76272" y="2359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2359152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87952" y="2359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2359152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2359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spend_usd 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38160" y="2359152"/>
            <a:ext cx="146304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11312" y="2359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cost_usd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2706624"/>
            <a:ext cx="164592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270662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103120" y="2706624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76272" y="27066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app_install 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0" y="2706624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87952" y="27066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mobile_app_installs 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2706624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9632" y="27066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app_installs 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138160" y="2706624"/>
            <a:ext cx="146304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11312" y="27066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3054096"/>
            <a:ext cx="164592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30540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103120" y="3054096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76272" y="30540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114800" y="3054096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87952" y="30540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26480" y="3054096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9632" y="30540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ecpm 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138160" y="3054096"/>
            <a:ext cx="146304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11312" y="30540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3401568"/>
            <a:ext cx="164592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0352" y="3401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103120" y="3401568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76272" y="3401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→ computed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114800" y="3401568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87952" y="3401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purchase_roas (list 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26480" y="3401568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99632" y="3401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138160" y="3401568"/>
            <a:ext cx="146304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11312" y="34015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" y="3749040"/>
            <a:ext cx="164592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0352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103120" y="3749040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76272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click/1d view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0" y="3749040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87952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click/1d view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126480" y="3749040"/>
            <a:ext cx="201168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99632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 click only 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138160" y="3749040"/>
            <a:ext cx="1463040" cy="347472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11312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attribution_window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4096512"/>
            <a:ext cx="164592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0352" y="40965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103120" y="4096512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176272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114800" y="4096512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187952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post_reactions 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126480" y="4096512"/>
            <a:ext cx="201168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99632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upvotes 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138160" y="4096512"/>
            <a:ext cx="1463040" cy="347472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211312" y="40965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= field renamed or requires special handling in transformer   ⚠⚠ = critical — affects comparability across platforms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CDM tables. One analysis layer.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74320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2743200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533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cdm_paid_media_daily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" y="1627632"/>
            <a:ext cx="822960" cy="201168"/>
          </a:xfrm>
          <a:prstGeom prst="rect">
            <a:avLst/>
          </a:prstGeom>
          <a:solidFill>
            <a:srgbClr val="FC4C02">
              <a:alpha val="18000"/>
            </a:srgbClr>
          </a:solidFill>
          <a:ln w="6350">
            <a:solidFill>
              <a:srgbClr val="FC4C0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627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8,008 rows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216" y="192024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platform × campaign × ad × day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5216" y="221284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Unified: installs, cost_usd, cpm, cpi, roas, attribution_window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261872"/>
            <a:ext cx="274320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261872"/>
            <a:ext cx="2743200" cy="36576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3533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cdm_installs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11296" y="1627632"/>
            <a:ext cx="822960" cy="201168"/>
          </a:xfrm>
          <a:prstGeom prst="rect">
            <a:avLst/>
          </a:prstGeom>
          <a:solidFill>
            <a:srgbClr val="40A0FF">
              <a:alpha val="18000"/>
            </a:srgbClr>
          </a:solidFill>
          <a:ln w="6350">
            <a:solidFill>
              <a:srgbClr val="40A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1296" y="1627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57,999 rows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11296" y="192024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app install with full funnel flags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11296" y="221284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appsflyer_id, channel, registered, subscribed, days_to_subscribe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1261872"/>
            <a:ext cx="274320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261872"/>
            <a:ext cx="2743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13533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cdm_funnel_events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37376" y="1627632"/>
            <a:ext cx="822960" cy="201168"/>
          </a:xfrm>
          <a:prstGeom prst="rect">
            <a:avLst/>
          </a:prstGeom>
          <a:solidFill>
            <a:srgbClr val="4ADE80">
              <a:alpha val="18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1627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864K rows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37376" y="192024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in-app event (activity, kudos, subscribe)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37376" y="221284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properties as JSON — queryable in BigQuery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5840" y="3108960"/>
            <a:ext cx="347472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5840" y="3108960"/>
            <a:ext cx="3474720" cy="3657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3200400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cdm_organic_daily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33856" y="3474720"/>
            <a:ext cx="822960" cy="201168"/>
          </a:xfrm>
          <a:prstGeom prst="rect">
            <a:avLst/>
          </a:prstGeom>
          <a:solidFill>
            <a:srgbClr val="C084FC">
              <a:alpha val="18000"/>
            </a:srgbClr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" y="34747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rows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3856" y="3767328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post across Instagram, TikTok, Reddit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33856" y="4059936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blended_engagement_rate computed consistently across all platforms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94960" y="3108960"/>
            <a:ext cx="3474720" cy="15727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3108960"/>
            <a:ext cx="3474720" cy="36576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22976" y="3200400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cdm_funnel_summary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22976" y="3474720"/>
            <a:ext cx="822960" cy="201168"/>
          </a:xfrm>
          <a:prstGeom prst="rect">
            <a:avLst/>
          </a:prstGeom>
          <a:solidFill>
            <a:srgbClr val="FF6A2F">
              <a:alpha val="18000"/>
            </a:srgbClr>
          </a:solidFill>
          <a:ln w="6350">
            <a:solidFill>
              <a:srgbClr val="FF6A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22976" y="34747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910 rows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22976" y="3767328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daily funnel rates by channel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22976" y="4059936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reg_rate, act_rate, trial_rate, overall_cvr, ltv_per_install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solidFill>
            <a:srgbClr val="3A1400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4645152"/>
            <a:ext cx="54864" cy="320040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464515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Instagram avg_watch_time is in MILLISECONDS — transformer divides by 1000. Reddit ROAS is always 0 (not available). Never SUM installs across platforms from paid CDM — use cdm_installs (MMP) as single source of truth.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FULL-FUNNEL MEASUREMENT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impression to subscriber — every step tracked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0" y="1280160"/>
            <a:ext cx="4572000" cy="329184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280160"/>
            <a:ext cx="4572000" cy="329184"/>
          </a:xfrm>
          <a:prstGeom prst="rect">
            <a:avLst/>
          </a:prstGeom>
          <a:solidFill>
            <a:srgbClr val="FC4C02">
              <a:alpha val="25000"/>
            </a:srgbClr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280160"/>
            <a:ext cx="45720" cy="329184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9304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IMPRESSION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01952" y="13075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114.9M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32588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· Meta · Reddit paid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792224"/>
            <a:ext cx="4572000" cy="329184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792224"/>
            <a:ext cx="137160" cy="329184"/>
          </a:xfrm>
          <a:prstGeom prst="rect">
            <a:avLst/>
          </a:prstGeom>
          <a:solidFill>
            <a:srgbClr val="FF6A2F">
              <a:alpha val="25000"/>
            </a:srgbClr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1792224"/>
            <a:ext cx="45720" cy="329184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013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01952" y="18196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57,999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18379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AppsFlyer last-touch attribution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0" y="2304288"/>
            <a:ext cx="4572000" cy="329184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2304288"/>
            <a:ext cx="3749040" cy="329184"/>
          </a:xfrm>
          <a:prstGeom prst="rect">
            <a:avLst/>
          </a:prstGeom>
          <a:solidFill>
            <a:srgbClr val="40A0FF">
              <a:alpha val="25000"/>
            </a:srgbClr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2304288"/>
            <a:ext cx="45720" cy="329184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1343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01952" y="23317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47,559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3500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installs register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3317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0" y="2816352"/>
            <a:ext cx="4572000" cy="329184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2816352"/>
            <a:ext cx="2651760" cy="329184"/>
          </a:xfrm>
          <a:prstGeom prst="rect">
            <a:avLst/>
          </a:prstGeom>
          <a:solidFill>
            <a:srgbClr val="40C0C0">
              <a:alpha val="25000"/>
            </a:srgbClr>
          </a:solidFill>
          <a:ln w="12700">
            <a:solidFill>
              <a:srgbClr val="40C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2816352"/>
            <a:ext cx="45720" cy="329184"/>
          </a:xfrm>
          <a:prstGeom prst="rect">
            <a:avLst/>
          </a:prstGeom>
          <a:solidFill>
            <a:srgbClr val="40C0C0"/>
          </a:solidFill>
          <a:ln w="12700">
            <a:solidFill>
              <a:srgbClr val="40C0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25496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ACTIVITY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01952" y="28437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33,767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2862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GPS upload = activation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28437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0" y="3328416"/>
            <a:ext cx="4572000" cy="329184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3328416"/>
            <a:ext cx="1463040" cy="329184"/>
          </a:xfrm>
          <a:prstGeom prst="rect">
            <a:avLst/>
          </a:prstGeom>
          <a:solidFill>
            <a:srgbClr val="C084FC">
              <a:alpha val="2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3328416"/>
            <a:ext cx="45720" cy="329184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33756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PAYWALL VIEWED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901952" y="33558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18,575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3741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upgrade screen seen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33558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0" y="3840480"/>
            <a:ext cx="4572000" cy="329184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0" y="3840480"/>
            <a:ext cx="557784" cy="329184"/>
          </a:xfrm>
          <a:prstGeom prst="rect">
            <a:avLst/>
          </a:prstGeom>
          <a:solidFill>
            <a:srgbClr val="FF2D55">
              <a:alpha val="25000"/>
            </a:srgbClr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0" y="3840480"/>
            <a:ext cx="45720" cy="32918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849624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STARTED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901952" y="38679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7,063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38862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initiated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6480" y="38679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0" y="4352544"/>
            <a:ext cx="4572000" cy="329184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0" y="4352544"/>
            <a:ext cx="297180" cy="329184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0" y="4352544"/>
            <a:ext cx="45720" cy="32918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36168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901952" y="43799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3,755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83680" y="43982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CVR · 41% subscribe Day 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26480" y="43799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days to subscribe: 1 day  ·  19.1% SKAN installs excluded from user-level funnel  ·  LTV per install: $3.85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you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54480" cy="96012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554480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$2.07M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 spend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39696" y="1188720"/>
            <a:ext cx="1554480" cy="96012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39696" y="1188720"/>
            <a:ext cx="1554480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6856" y="135331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$35.70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76856" y="1847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22192" y="1188720"/>
            <a:ext cx="1554480" cy="96012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22192" y="1188720"/>
            <a:ext cx="1554480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135331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59352" y="1847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→ Sub CVR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04688" y="1188720"/>
            <a:ext cx="1554480" cy="96012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04688" y="1188720"/>
            <a:ext cx="1554480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41848" y="135331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41848" y="1847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per install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87184" y="1188720"/>
            <a:ext cx="1554480" cy="96012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87184" y="1188720"/>
            <a:ext cx="1554480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24344" y="135331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24344" y="1847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SKAN 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4160520" cy="11155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331720"/>
            <a:ext cx="54864" cy="1115568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423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Reddit: lowest CPI, often overlooked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273405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Ads deliver a $29.80 CPI — lower than TikTok ($34.20) and Meta ($37.10). The niche fitness community targeting (r/running, r/cycling) converts efficiently. Budget under-allocated here.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93592"/>
            <a:ext cx="4160520" cy="11155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593592"/>
            <a:ext cx="54864" cy="11155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6850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subscribe on Day 0 — first impression matters most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subscribers convert the same day they install. Onboarding experience and paywall timing are the highest-leverage optimization opportunity, not more ad spend.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31720"/>
            <a:ext cx="4160520" cy="11155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331720"/>
            <a:ext cx="54864" cy="1115568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2423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drives highest LTV per install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10912" y="273405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$3.96 LTV per install vs $3.74 for Google UAC. TikTok acquires users with higher willingness to pay annual plans — segment by subscription type to validate.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593592"/>
            <a:ext cx="4160520" cy="111556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593592"/>
            <a:ext cx="54864" cy="1115568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36850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engagement rate: 17.5% — biggest untapped channel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10912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posts are generating 1.95M reach with 17.5% blended engagement. Viral posts (9%) generate 6× reach of normal posts. Invest in content to reduce paid dependency.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four teams. Shared data layer.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60520" cy="175564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4160520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UA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etl/paid_* · mart_channel_performance · CPI, ROAS reporting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mart_channel_performance_daily for daily spend vs install efficiency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rpt_platform_comparison to allocate budget across TikTok, Meta, Reddit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blended CPI trend — scale when LTV/CAC &gt; 3:1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paid media dry-run: python etl/run_paid_media_pipeline.py --date YYYY-MM-DD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36392"/>
            <a:ext cx="4160520" cy="175564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36392"/>
            <a:ext cx="4160520" cy="36576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/ Social Team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838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etl/organic_* · mart_organic_performance · Reach, engagement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730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cdm_organic_daily for post-level reach and engagement by content type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005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viral_reach_multiplier to identify high-performing formats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blended_engagement_rate across platforms (consistent methodology)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553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follower_delta to measure audience growth driven by organic content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4160520" cy="175564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234440"/>
            <a:ext cx="416052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15819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etl/appsflyer_* · cdm_funnel_events · Activation, features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cdm_installs to cdm_funnel_events via customer_user_id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activation cohorts: first_activity within 3 days predicts 30-day retention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cdm_funnel_summary for daily funnel health monitoring by channel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is_skan = TRUE rows from all user-level funnel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136392"/>
            <a:ext cx="4160520" cy="175564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136392"/>
            <a:ext cx="4160520" cy="3657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Growth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34838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mart_ltv_cohort · MRR, churn, LTV/CAC ratio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3730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mart_ltv_cohort to mart_channel_performance_daily on cohort_month + channel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4005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LTV/CAC ratio — target ≥ 3:1 on 12-month LTV basis before scaling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4279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annual vs monthly subscription mix — annual plan = 6.7× more revenue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83480" y="4553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funnel_status column (healthy / watch / at_risk) for automated alerts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AUTOMATION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automated. Zero manual steps.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1115568" cy="80467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1115568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16736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4 * * *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99616" y="157276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8488" y="1261872"/>
            <a:ext cx="1115568" cy="80467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18488" y="1261872"/>
            <a:ext cx="1115568" cy="36576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316736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52344" y="157276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71216" y="1261872"/>
            <a:ext cx="1115568" cy="80467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71216" y="1261872"/>
            <a:ext cx="1115568" cy="36576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1316736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05072" y="157276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23944" y="1261872"/>
            <a:ext cx="1115568" cy="80467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23944" y="1261872"/>
            <a:ext cx="1115568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97096" y="1316736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landing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157276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76672" y="1261872"/>
            <a:ext cx="1115568" cy="80467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76672" y="1261872"/>
            <a:ext cx="1115568" cy="3657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316736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tables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10528" y="157276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1261872"/>
            <a:ext cx="1115568" cy="80467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1261872"/>
            <a:ext cx="1115568" cy="36576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1316736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models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63256" y="157276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82128" y="1261872"/>
            <a:ext cx="1115568" cy="80467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82128" y="1261872"/>
            <a:ext cx="1115568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1316736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Slack alert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2743200"/>
            <a:ext cx="1554480" cy="89611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2743200"/>
            <a:ext cx="1554480" cy="36576"/>
          </a:xfrm>
          <a:prstGeom prst="rect">
            <a:avLst/>
          </a:prstGeom>
          <a:solidFill>
            <a:srgbClr val="6E6E74"/>
          </a:solidFill>
          <a:ln w="12700">
            <a:solidFill>
              <a:srgbClr val="6E6E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281635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3090672"/>
            <a:ext cx="14081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+ Flake8 + secret scan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39696" y="2743200"/>
            <a:ext cx="1554480" cy="89611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139696" y="2743200"/>
            <a:ext cx="1554480" cy="36576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12848" y="281635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12848" y="3090672"/>
            <a:ext cx="14081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pipelines dry run + 34 validator checks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22192" y="2743200"/>
            <a:ext cx="1554480" cy="89611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22192" y="2743200"/>
            <a:ext cx="1554480" cy="36576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95344" y="281635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dbt-check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95344" y="3090672"/>
            <a:ext cx="14081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compile + schema YAML parse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04688" y="2743200"/>
            <a:ext cx="1554480" cy="89611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04688" y="2743200"/>
            <a:ext cx="155448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281635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deploy-staging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77840" y="3090672"/>
            <a:ext cx="14081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staging on branch push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87184" y="2743200"/>
            <a:ext cx="1554480" cy="89611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87184" y="2743200"/>
            <a:ext cx="1554480" cy="36576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0336" y="281635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deploy-prod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260336" y="3090672"/>
            <a:ext cx="14081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production on merge to main (requires approval)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 Layer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57200" y="4133088"/>
            <a:ext cx="2011680" cy="877824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7200" y="4133088"/>
            <a:ext cx="54864" cy="877824"/>
          </a:xfrm>
          <a:prstGeom prst="rect">
            <a:avLst/>
          </a:prstGeom>
          <a:solidFill>
            <a:srgbClr val="6E6E74"/>
          </a:solidFill>
          <a:ln w="12700">
            <a:solidFill>
              <a:srgbClr val="6E6E7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1879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views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080" y="44805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enforce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recompute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33472" y="4133088"/>
            <a:ext cx="2011680" cy="877824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633472" y="4133088"/>
            <a:ext cx="54864" cy="877824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16352" y="41879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tables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816352" y="44805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cohort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cohort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perf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09744" y="4133088"/>
            <a:ext cx="2011680" cy="877824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809744" y="4133088"/>
            <a:ext cx="54864" cy="877824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92624" y="41879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992624" y="44805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health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86016" y="4133088"/>
            <a:ext cx="2011680" cy="877824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986016" y="4133088"/>
            <a:ext cx="54864" cy="87782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68896" y="41879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tests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168896" y="44805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assertions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gates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MEASUREMENT: INCREMENTALITY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attribution: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ad actually cause the install?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640080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73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incrementality testing?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holdout experiment where a % of your audience is shown NO ads (control group). You measure whether the exposed group converts at a higher rate than the holdout. The difference = true incremental lift driven by your campaign.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last-touch attribution overstates impact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5720" cy="292608"/>
          </a:xfrm>
          <a:prstGeom prst="rect">
            <a:avLst/>
          </a:prstGeom>
          <a:solidFill>
            <a:srgbClr val="FF6A2F"/>
          </a:solidFill>
          <a:ln w="12700">
            <a:solidFill>
              <a:srgbClr val="FF6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889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credits the last touchpoint — but the user may have converted anyway (organic search, word of mouth, brand recall).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45720" cy="292608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363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AppsFlyer last-touch says TikTok drove 6,000 installs in January — but how many of those users would have found the app without the ad?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83864"/>
            <a:ext cx="45720" cy="292608"/>
          </a:xfrm>
          <a:prstGeom prst="rect">
            <a:avLst/>
          </a:prstGeom>
          <a:solidFill>
            <a:srgbClr val="9B9BA0"/>
          </a:solidFill>
          <a:ln w="12700">
            <a:solidFill>
              <a:srgbClr val="9B9B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838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holdout testing, you may be spending $851K on TikTok to accelerate conversions that would happen organically anyway.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8953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platform enables incrementality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45720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25196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cdm_installs has channel, campaign_id, install_date — perfect for cohort holdout design per source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471416"/>
            <a:ext cx="45720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4714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cdm_funnel_events lets you measure not just installs but activation and subscription rates in holdout vs exposed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690872"/>
            <a:ext cx="45720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6908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cdm_installs + cdm_paid_media_daily to compute spend against true incremental installs (not attributed installs)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910328"/>
            <a:ext cx="45720" cy="201168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910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true iROAS (incremental ROAS) by channel — the number you actually want to optimize budget against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MEASUREMENT: MMM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channel contributes to subscriptions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621792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621792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64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MMM?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regression model that quantifies how paid spend, organic content, seasonality, and external factors together drive subscription volume — without relying on user-level tracking. Privacy-safe and works across all channels simultaneously.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04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 vs Last-Touch Attribution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192024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163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816352"/>
            <a:ext cx="301752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81635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Attribution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2816352"/>
            <a:ext cx="333756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81635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1920240" cy="274320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906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68880" y="3090672"/>
            <a:ext cx="3017520" cy="274320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09067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user-level tracking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3090672"/>
            <a:ext cx="3337560" cy="274320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09067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data only — GDPR-safe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192024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6499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coverage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3364992"/>
            <a:ext cx="301752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36499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only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3364992"/>
            <a:ext cx="333756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36499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+ organic + seasonality + price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1920240" cy="274320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393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3639312"/>
            <a:ext cx="3017520" cy="274320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63931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per channel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0" y="3639312"/>
            <a:ext cx="3337560" cy="274320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63931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% + budget elasticity curves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913632"/>
            <a:ext cx="192024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1363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effects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68880" y="3913632"/>
            <a:ext cx="301752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91363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ad recall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0" y="3913632"/>
            <a:ext cx="333756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391363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adstock / carryover effects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187952"/>
            <a:ext cx="1920240" cy="274320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1879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signal loss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68880" y="4187952"/>
            <a:ext cx="3017520" cy="274320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418795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SKAN gap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0" y="4187952"/>
            <a:ext cx="3337560" cy="274320"/>
          </a:xfrm>
          <a:prstGeom prst="rect">
            <a:avLst/>
          </a:prstGeom>
          <a:solidFill>
            <a:srgbClr val="272729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18795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Unaffected — uses aggregate spend data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462272"/>
            <a:ext cx="192024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4622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68880" y="4462272"/>
            <a:ext cx="301752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0" y="446227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campaign bidding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0" y="4462272"/>
            <a:ext cx="3337560" cy="274320"/>
          </a:xfrm>
          <a:prstGeom prst="rect">
            <a:avLst/>
          </a:prstGeom>
          <a:solidFill>
            <a:srgbClr val="2E2E33"/>
          </a:solidFill>
          <a:ln w="3810">
            <a:solidFill>
              <a:srgbClr val="3A3A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446227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budget allocation strategy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platform feeds into MMM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5029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spend by channel (mart_channel_performance_daily)  ·  Weekly subscriptions (cdm_funnel_summary)  ·  Weekly organic reach (mart_organic_performance)  →  Input to Robyn, LightweightMMM, or PyMC-Marketing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3A1A00"/>
          </a:solidFill>
          <a:ln w="10160">
            <a:solidFill>
              <a:srgbClr val="FC4C0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path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platform is the data foundation. Here is how it evolves into a full measurement stack.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011680" cy="349300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20116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481328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" y="171907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" y="2066544"/>
            <a:ext cx="1645920" cy="0"/>
          </a:xfrm>
          <a:prstGeom prst="line">
            <a:avLst/>
          </a:prstGeom>
          <a:noFill/>
          <a:ln w="5080">
            <a:solidFill>
              <a:srgbClr val="3A3A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" y="2176272"/>
            <a:ext cx="45720" cy="292608"/>
          </a:xfrm>
          <a:prstGeom prst="rect">
            <a:avLst/>
          </a:prstGeom>
          <a:solidFill>
            <a:srgbClr val="4ADE80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176272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CDM in BigQuery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" y="2688336"/>
            <a:ext cx="45720" cy="292608"/>
          </a:xfrm>
          <a:prstGeom prst="rect">
            <a:avLst/>
          </a:prstGeom>
          <a:solidFill>
            <a:srgbClr val="4ADE80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2688336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automated ETL pipelines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" y="3200400"/>
            <a:ext cx="45720" cy="292608"/>
          </a:xfrm>
          <a:prstGeom prst="rect">
            <a:avLst/>
          </a:prstGeom>
          <a:solidFill>
            <a:srgbClr val="4ADE80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200400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funnel from impression to LTV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" y="3712464"/>
            <a:ext cx="45720" cy="292608"/>
          </a:xfrm>
          <a:prstGeom prst="rect">
            <a:avLst/>
          </a:prstGeom>
          <a:solidFill>
            <a:srgbClr val="4ADE80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3712464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 layer + CI/CD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" y="4224528"/>
            <a:ext cx="45720" cy="292608"/>
          </a:xfrm>
          <a:prstGeom prst="rect">
            <a:avLst/>
          </a:prstGeom>
          <a:solidFill>
            <a:srgbClr val="4ADE80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422452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dashboard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79192" y="1417320"/>
            <a:ext cx="2011680" cy="349300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79192" y="1417320"/>
            <a:ext cx="2011680" cy="45720"/>
          </a:xfrm>
          <a:prstGeom prst="rect">
            <a:avLst/>
          </a:prstGeom>
          <a:solidFill>
            <a:srgbClr val="40A0FF"/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1481328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07208" y="171907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Layer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07208" y="2066544"/>
            <a:ext cx="1645920" cy="0"/>
          </a:xfrm>
          <a:prstGeom prst="line">
            <a:avLst/>
          </a:prstGeom>
          <a:noFill/>
          <a:ln w="5080">
            <a:solidFill>
              <a:srgbClr val="3A3A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07208" y="2176272"/>
            <a:ext cx="45720" cy="292608"/>
          </a:xfrm>
          <a:prstGeom prst="rect">
            <a:avLst/>
          </a:prstGeom>
          <a:solidFill>
            <a:srgbClr val="40A0FF">
              <a:alpha val="70000"/>
            </a:srgbClr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6936" y="2176272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holdout experiments (incrementality)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07208" y="2688336"/>
            <a:ext cx="45720" cy="292608"/>
          </a:xfrm>
          <a:prstGeom prst="rect">
            <a:avLst/>
          </a:prstGeom>
          <a:solidFill>
            <a:srgbClr val="40A0FF">
              <a:alpha val="70000"/>
            </a:srgbClr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16936" y="2688336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pipeline for onboarding flows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07208" y="3200400"/>
            <a:ext cx="45720" cy="292608"/>
          </a:xfrm>
          <a:prstGeom prst="rect">
            <a:avLst/>
          </a:prstGeom>
          <a:solidFill>
            <a:srgbClr val="40A0FF">
              <a:alpha val="70000"/>
            </a:srgbClr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16936" y="3200400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lift studies per channel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07208" y="3712464"/>
            <a:ext cx="45720" cy="292608"/>
          </a:xfrm>
          <a:prstGeom prst="rect">
            <a:avLst/>
          </a:prstGeom>
          <a:solidFill>
            <a:srgbClr val="40A0FF">
              <a:alpha val="70000"/>
            </a:srgbClr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16936" y="3712464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iROAS by channel + budget reallocation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07208" y="4224528"/>
            <a:ext cx="45720" cy="292608"/>
          </a:xfrm>
          <a:prstGeom prst="rect">
            <a:avLst/>
          </a:prstGeom>
          <a:solidFill>
            <a:srgbClr val="40A0FF">
              <a:alpha val="70000"/>
            </a:srgbClr>
          </a:solidFill>
          <a:ln w="12700">
            <a:solidFill>
              <a:srgbClr val="40A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6936" y="422452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Paywall optimization via cohort testing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55464" y="1417320"/>
            <a:ext cx="2011680" cy="349300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55464" y="1417320"/>
            <a:ext cx="2011680" cy="457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1481328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83480" y="171907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983480" y="2066544"/>
            <a:ext cx="1645920" cy="0"/>
          </a:xfrm>
          <a:prstGeom prst="line">
            <a:avLst/>
          </a:prstGeom>
          <a:noFill/>
          <a:ln w="5080">
            <a:solidFill>
              <a:srgbClr val="3A3A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83480" y="2176272"/>
            <a:ext cx="45720" cy="292608"/>
          </a:xfrm>
          <a:prstGeom prst="rect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93208" y="2176272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MMM inputs automated from BigQuery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83480" y="2688336"/>
            <a:ext cx="45720" cy="292608"/>
          </a:xfrm>
          <a:prstGeom prst="rect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93208" y="2688336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Robyn or PyMC-Marketing integration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83480" y="3200400"/>
            <a:ext cx="45720" cy="292608"/>
          </a:xfrm>
          <a:prstGeom prst="rect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93208" y="3200400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 + saturation curves per channel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83480" y="3712464"/>
            <a:ext cx="45720" cy="292608"/>
          </a:xfrm>
          <a:prstGeom prst="rect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93208" y="3712464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planning: what-if budget simulator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83480" y="4224528"/>
            <a:ext cx="45720" cy="292608"/>
          </a:xfrm>
          <a:prstGeom prst="rect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93208" y="422452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measurement: MTA + MMM + incrementality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031736" y="1417320"/>
            <a:ext cx="2011680" cy="3493008"/>
          </a:xfrm>
          <a:prstGeom prst="rect">
            <a:avLst/>
          </a:prstGeom>
          <a:solidFill>
            <a:srgbClr val="2E2E33"/>
          </a:solidFill>
          <a:ln w="6350">
            <a:solidFill>
              <a:srgbClr val="3A3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031736" y="1417320"/>
            <a:ext cx="2011680" cy="45720"/>
          </a:xfrm>
          <a:prstGeom prst="rect">
            <a:avLst/>
          </a:prstGeom>
          <a:solidFill>
            <a:srgbClr val="FC4C02"/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9752" y="1481328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C4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ADVANCED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59752" y="171907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&amp; Real-Time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159752" y="2066544"/>
            <a:ext cx="1645920" cy="0"/>
          </a:xfrm>
          <a:prstGeom prst="line">
            <a:avLst/>
          </a:prstGeom>
          <a:noFill/>
          <a:ln w="5080">
            <a:solidFill>
              <a:srgbClr val="3A3A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59752" y="2176272"/>
            <a:ext cx="45720" cy="292608"/>
          </a:xfrm>
          <a:prstGeom prst="rect">
            <a:avLst/>
          </a:prstGeom>
          <a:solidFill>
            <a:srgbClr val="FC4C02">
              <a:alpha val="70000"/>
            </a:srgbClr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69480" y="2176272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LTV at install (ML model)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159752" y="2688336"/>
            <a:ext cx="45720" cy="292608"/>
          </a:xfrm>
          <a:prstGeom prst="rect">
            <a:avLst/>
          </a:prstGeom>
          <a:solidFill>
            <a:srgbClr val="FC4C02">
              <a:alpha val="70000"/>
            </a:srgbClr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69480" y="2688336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propensity scoring per subscriber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159752" y="3200400"/>
            <a:ext cx="45720" cy="292608"/>
          </a:xfrm>
          <a:prstGeom prst="rect">
            <a:avLst/>
          </a:prstGeom>
          <a:solidFill>
            <a:srgbClr val="FC4C02">
              <a:alpha val="70000"/>
            </a:srgbClr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9480" y="3200400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bidding signals to ad platforms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159752" y="3712464"/>
            <a:ext cx="45720" cy="292608"/>
          </a:xfrm>
          <a:prstGeom prst="rect">
            <a:avLst/>
          </a:prstGeom>
          <a:solidFill>
            <a:srgbClr val="FC4C02">
              <a:alpha val="70000"/>
            </a:srgbClr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69480" y="3712464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identity graph (privacy-safe)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159752" y="4224528"/>
            <a:ext cx="45720" cy="292608"/>
          </a:xfrm>
          <a:prstGeom prst="rect">
            <a:avLst/>
          </a:prstGeom>
          <a:solidFill>
            <a:srgbClr val="FC4C02">
              <a:alpha val="70000"/>
            </a:srgbClr>
          </a:solidFill>
          <a:ln w="12700">
            <a:solidFill>
              <a:srgbClr val="FC4C0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69480" y="422452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budget reallocation via API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0292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Jess L.  ·  Marketing Data Scientist  ·  github.com/jessleung131-prog/social-fitness-media-intelligence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Fitness Tracker App — Media Intelligence Platform</dc:title>
  <dc:subject>PptxGenJS Presentation</dc:subject>
  <dc:creator>Jess L.</dc:creator>
  <cp:lastModifiedBy>Jess L.</cp:lastModifiedBy>
  <cp:revision>1</cp:revision>
  <dcterms:created xsi:type="dcterms:W3CDTF">2026-04-20T06:42:07Z</dcterms:created>
  <dcterms:modified xsi:type="dcterms:W3CDTF">2026-04-20T06:42:07Z</dcterms:modified>
</cp:coreProperties>
</file>